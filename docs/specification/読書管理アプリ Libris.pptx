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8FFFFC-88A2-4A77-AEE2-4CC9CFCA6DB8}">
  <a:tblStyle styleId="{348FFFFC-88A2-4A77-AEE2-4CC9CFCA6D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5399e0d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5399e0d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35399e0d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35399e0d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35399e0d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35399e0d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35399e0d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35399e0d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5399e0d2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5399e0d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35399e0d2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35399e0d2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35399e0d2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35399e0d2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35399e0d2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35399e0d2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35399e0d2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35399e0d2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35399e0d2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35399e0d2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35399e0d2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35399e0d2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35399e0d2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35399e0d2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35399e0d2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35399e0d2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35399e0d2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35399e0d2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35399e0d2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35399e0d2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35399e0d2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35399e0d2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35399e0d2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35399e0d2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35399e0d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35399e0d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200"/>
              <a:t>読書管理アプリ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8300"/>
              <a:t>Libris</a:t>
            </a:r>
            <a:endParaRPr sz="83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72450" y="4239050"/>
            <a:ext cx="7199100" cy="3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© 2025 Libris / たつひこシステム開発（TSD）✨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アプリの説明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514250"/>
            <a:ext cx="8520600" cy="25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Google Books APIと連携した読書管理アプリ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・APIを利用した書籍検索</a:t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・本棚へのステータス付き登録</a:t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・レビュー投稿機能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制作に至った経緯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900"/>
              <a:t>外部API！？</a:t>
            </a:r>
            <a:br>
              <a:rPr lang="ja" sz="2900"/>
            </a:br>
            <a:r>
              <a:rPr lang="ja" sz="2900"/>
              <a:t>なにそれかっちょいいなｗ</a:t>
            </a:r>
            <a:br>
              <a:rPr lang="ja" sz="2900"/>
            </a:br>
            <a:r>
              <a:rPr lang="ja" sz="2900"/>
              <a:t>俺も叩きたい！！！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Google Books APIを採用した理由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無料かつ認証不要のAPIを探していた</a:t>
            </a:r>
            <a:br>
              <a:rPr lang="ja"/>
            </a:br>
            <a:r>
              <a:rPr lang="ja"/>
              <a:t>題材として広げやすく</a:t>
            </a:r>
            <a:br>
              <a:rPr lang="ja"/>
            </a:br>
            <a:r>
              <a:rPr lang="ja"/>
              <a:t>CRUD処理やセッション管理など</a:t>
            </a:r>
            <a:br>
              <a:rPr lang="ja"/>
            </a:br>
            <a:r>
              <a:rPr lang="ja"/>
              <a:t>基本的なWEBシステムの構想にあてはめやすかった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開発のテーマ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授業で取得した技術</a:t>
            </a:r>
            <a:br>
              <a:rPr lang="ja"/>
            </a:br>
            <a:r>
              <a:rPr lang="ja"/>
              <a:t>（CRUD操作・セッション管理など）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＋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未知の技術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設計に関する知識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実務に近い開発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システムの構成・設計思想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600"/>
              <a:t>・レイヤードアーキテクチャ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600"/>
              <a:t>　　責務を明確に分ける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600"/>
              <a:t>・DDDを参考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1600"/>
              <a:t>　ドメイン単位での機能分ける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1398450" y="429300"/>
            <a:ext cx="634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システム構成</a:t>
            </a:r>
            <a:endParaRPr/>
          </a:p>
        </p:txBody>
      </p:sp>
      <p:sp>
        <p:nvSpPr>
          <p:cNvPr id="91" name="Google Shape;91;p19"/>
          <p:cNvSpPr txBox="1"/>
          <p:nvPr>
            <p:ph idx="2" type="body"/>
          </p:nvPr>
        </p:nvSpPr>
        <p:spPr>
          <a:xfrm>
            <a:off x="4427586" y="1396275"/>
            <a:ext cx="45069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ja"/>
              <a:t>【責務の分離・ドメインでの機能分割】</a:t>
            </a:r>
            <a:endParaRPr sz="190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75" y="149425"/>
            <a:ext cx="1894296" cy="468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6300" y="2612300"/>
            <a:ext cx="1712875" cy="22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4671636" y="1809975"/>
            <a:ext cx="401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・実装時の判断コストが爆下がり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4671636" y="2348388"/>
            <a:ext cx="401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・</a:t>
            </a:r>
            <a:r>
              <a:rPr lang="ja">
                <a:solidFill>
                  <a:schemeClr val="dk2"/>
                </a:solidFill>
              </a:rPr>
              <a:t>変更時の影響範囲が限定され</a:t>
            </a:r>
            <a:br>
              <a:rPr lang="ja">
                <a:solidFill>
                  <a:schemeClr val="dk2"/>
                </a:solidFill>
              </a:rPr>
            </a:br>
            <a:r>
              <a:rPr lang="ja">
                <a:solidFill>
                  <a:schemeClr val="dk2"/>
                </a:solidFill>
              </a:rPr>
              <a:t>　保守性と変更容易性の高い構成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4671636" y="3102225"/>
            <a:ext cx="401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・</a:t>
            </a:r>
            <a:r>
              <a:rPr lang="ja">
                <a:solidFill>
                  <a:schemeClr val="dk2"/>
                </a:solidFill>
              </a:rPr>
              <a:t>特にEntityとDTOの分離が調子イイ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ＤＢ変更、UI変更に即対応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4710961" y="3856050"/>
            <a:ext cx="401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・Service</a:t>
            </a:r>
            <a:r>
              <a:rPr lang="ja">
                <a:solidFill>
                  <a:schemeClr val="dk2"/>
                </a:solidFill>
              </a:rPr>
              <a:t>にビジネスロジックを</a:t>
            </a:r>
            <a:r>
              <a:rPr lang="ja">
                <a:solidFill>
                  <a:schemeClr val="dk2"/>
                </a:solidFill>
              </a:rPr>
              <a:t>集約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　</a:t>
            </a:r>
            <a:r>
              <a:rPr lang="ja">
                <a:solidFill>
                  <a:schemeClr val="dk2"/>
                </a:solidFill>
              </a:rPr>
              <a:t>テスタビリティ向上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ja"/>
              <a:t>システム規模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940200" y="1152475"/>
            <a:ext cx="4892100" cy="16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粒度について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400"/>
              <a:t>・SRPを意識した設計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400"/>
              <a:t>　14ステップ／メソッド　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400"/>
              <a:t>　この粒度はどうなんだろう・・・ｗ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4" name="Google Shape;104;p20"/>
          <p:cNvGraphicFramePr/>
          <p:nvPr/>
        </p:nvGraphicFramePr>
        <p:xfrm>
          <a:off x="551421" y="1172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{348FFFFC-88A2-4A77-AEE2-4CC9CFCA6DB8}</a:tableStyleId>
              </a:tblPr>
              <a:tblGrid>
                <a:gridCol w="1036700"/>
                <a:gridCol w="1036700"/>
                <a:gridCol w="1036700"/>
              </a:tblGrid>
              <a:tr h="34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言語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ファイル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ステップ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Java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65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約2000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CSS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約1500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HTML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20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約1400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5" name="Google Shape;105;p20"/>
          <p:cNvGraphicFramePr/>
          <p:nvPr/>
        </p:nvGraphicFramePr>
        <p:xfrm>
          <a:off x="551421" y="3085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{348FFFFC-88A2-4A77-AEE2-4CC9CFCA6DB8}</a:tableStyleId>
              </a:tblPr>
              <a:tblGrid>
                <a:gridCol w="1036700"/>
                <a:gridCol w="1036700"/>
                <a:gridCol w="1036700"/>
              </a:tblGrid>
              <a:tr h="39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Controller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474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Service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552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Mappre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－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Domain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－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6" name="Google Shape;106;p20"/>
          <p:cNvSpPr txBox="1"/>
          <p:nvPr/>
        </p:nvSpPr>
        <p:spPr>
          <a:xfrm>
            <a:off x="1095175" y="2731975"/>
            <a:ext cx="202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↓メソッド数とステップ数↓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3940200" y="3360875"/>
            <a:ext cx="489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>
                <a:solidFill>
                  <a:schemeClr val="dk2"/>
                </a:solidFill>
              </a:rPr>
              <a:t>記録としてこういうのも面白いなｗ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500"/>
              <a:t>外部API連携とデータ保持の設計</a:t>
            </a:r>
            <a:endParaRPr sz="2500"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外部APIとアプリ内DBのハイブリッド設計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各ユーザーが本棚に登録した書籍の情報はアプリ内DBに保存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・外部API呼び出し回数の抑制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・レスポンスの安定化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・表示速度の向上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可能な限り外部APIに依存したくない！！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DB設計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944225" y="1152475"/>
            <a:ext cx="388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/>
              <a:t>・ドメインを起点に設計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500"/>
              <a:t>・正規化を意識し１つの責務を担う設計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500"/>
              <a:t>・中間テーブルで管理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500"/>
              <a:t>・UUID（Javaライブラリ）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500"/>
              <a:t>　連</a:t>
            </a:r>
            <a:r>
              <a:rPr lang="ja" sz="1500"/>
              <a:t>番IDによるURLの推測を回避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/>
              <a:t>　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75" y="1097425"/>
            <a:ext cx="469389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認証・認可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・BCrypt　大文字・小文字・数字を含める８～１６文字の半角英数字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・セッションの寿命はデフォルトの３０分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・セッションによるログイン状態管理（識別情報のみの格納）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・重要操作時の再認証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・Interceptorによる認可制御の一元管理（Controllerに認可処理を記述しない）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今回は認証・認可の仕組みを理解することを目的とし、フレームワークの概念や処理の流れを学ぶためにあえて自作し、SpringSecurityでの実装を見送っている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Interceptor</a:t>
            </a:r>
            <a:r>
              <a:rPr lang="ja"/>
              <a:t>の採用理由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/>
              <a:t>SpringMVC</a:t>
            </a:r>
            <a:r>
              <a:rPr lang="ja" sz="1900"/>
              <a:t>内で@ControllerAdviceによる処理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600"/>
              <a:t>・DIを利用することが可能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600"/>
              <a:t>・preHandle(),postHandle()による実行前後のフックが可能（共通Model追加など）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600"/>
              <a:t>・@ExceptionHandlerで例外のハンドリングが可能（Interceptor内でthrow）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1700"/>
              <a:t>今後の拡張も踏まえて設計余地を残している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エラーハンドリング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3489900" cy="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大前提として・・・・</a:t>
            </a:r>
            <a:endParaRPr/>
          </a:p>
        </p:txBody>
      </p:sp>
      <p:sp>
        <p:nvSpPr>
          <p:cNvPr id="139" name="Google Shape;139;p25"/>
          <p:cNvSpPr txBox="1"/>
          <p:nvPr/>
        </p:nvSpPr>
        <p:spPr>
          <a:xfrm>
            <a:off x="568150" y="1739025"/>
            <a:ext cx="804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200">
                <a:solidFill>
                  <a:schemeClr val="dk2"/>
                </a:solidFill>
              </a:rPr>
              <a:t>飛んできたフォーム、パラメーターなんか信用できねぇ！！！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311700" y="2571750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想定内の例外、想定外の例外・・・・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568150" y="3342975"/>
            <a:ext cx="804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200">
                <a:solidFill>
                  <a:schemeClr val="dk2"/>
                </a:solidFill>
              </a:rPr>
              <a:t>ホワイトラベルによる</a:t>
            </a:r>
            <a:endParaRPr sz="22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200">
                <a:solidFill>
                  <a:schemeClr val="dk2"/>
                </a:solidFill>
              </a:rPr>
              <a:t>ユーザーへの不要な情報の表示を避けたい！！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400"/>
              <a:t>独自例外クラスApplicationExceptionを定義</a:t>
            </a:r>
            <a:endParaRPr sz="2400"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RuntimeExceptionを継承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・業務ルール違反を例外化することが可能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・try-catch不要（throwするだけでOK</a:t>
            </a:r>
            <a:r>
              <a:rPr lang="ja"/>
              <a:t>）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・失敗内容を明示するためにエラー種別を表すTypeとメッセージを持たせている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・Springにおいて</a:t>
            </a:r>
            <a:r>
              <a:rPr lang="ja"/>
              <a:t>RuntimeExceptionと同じ扱いなのでロールバックの対象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エラーハンドリング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GlobalExceptionHandler</a:t>
            </a:r>
            <a:r>
              <a:rPr lang="ja"/>
              <a:t>を定義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600"/>
              <a:t>@ControllerAdvice</a:t>
            </a:r>
            <a:r>
              <a:rPr lang="ja" sz="1600"/>
              <a:t>によってthrowされた例外をすべてのControllerで横断的に拾う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600"/>
              <a:t>@ExceptionHandlerによって例外ごとに処理や遷移を管理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ja" sz="1600"/>
            </a:br>
            <a:r>
              <a:rPr lang="ja" sz="1600"/>
              <a:t>例外の種類に応じて、メッセージをModelに追加した状態で遷移先を指定できる！！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600"/>
              <a:t>ホワイトラベル回避！！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040"/>
              <a:t>【対応する例外】</a:t>
            </a:r>
            <a:endParaRPr sz="104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040"/>
              <a:t>不正なパラメータ（フォーム改ざん・enum不正など）</a:t>
            </a:r>
            <a:endParaRPr sz="104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040"/>
              <a:t>DB更新件数の不整合</a:t>
            </a:r>
            <a:endParaRPr sz="104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040"/>
              <a:t>外部APIのエラー</a:t>
            </a:r>
            <a:endParaRPr sz="104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1040"/>
              <a:t>想定外例外</a:t>
            </a:r>
            <a:endParaRPr sz="124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トランザクション管理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業務ルール違反の例外化を活用したトランザクション設計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475"/>
              <a:t>（RuntimeExceptionの継承）</a:t>
            </a:r>
            <a:endParaRPr sz="147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500"/>
              <a:t>・２テーブルに対するINSERTでの外部キー制約を保証（中間テーブル）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500"/>
              <a:t>　　　AUTO＿INCREMENTにより採番されたidをもとに別テーブルにINSERT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500"/>
              <a:t>　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500"/>
              <a:t>・UPDATE処理時に影響行数を検証し１以外の場合すべて例外としてthrow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500"/>
              <a:t>　　仕様で複数行のUPDATEを許していない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500"/>
              <a:t>　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すべて例外としてthrowしロールバックの対象にする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UI・UXについて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日常で使っているサービスの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「この仕様いけてるなぁ」「なんでこの仕様なんだろう」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「うわ！！なんだよこれわかりづらいよｗ」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を学びの機会ととらえて学習しながらアプリに反映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UX向上におけるフロント制御の重要性に気付く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CSSでの失敗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場当たり的にスタイルをかけていたため</a:t>
            </a:r>
            <a:br>
              <a:rPr lang="ja"/>
            </a:br>
            <a:r>
              <a:rPr lang="ja"/>
              <a:t>いざ共通化という段階でクラス名がバラバラ＆独自スタイル上書き地獄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フラグメンツ化したNAVやフッターの実装で地獄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スタイルにブレがあります・・・・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100"/>
              <a:t>ＣＳＳの設計も大切！！！</a:t>
            </a:r>
            <a:endParaRPr sz="2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次回予告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2337000" y="1210975"/>
            <a:ext cx="447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・Reactによるフロントエンド実装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・CI/CDの導入（Docker･AWS）　～デプロイの向こう側～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・SpringSecurityの導入　トークン・OAuth2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・認証あり外部API連携　通販系かな？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</a:t>
            </a:r>
            <a:r>
              <a:rPr lang="ja"/>
              <a:t>いいかげんZipCloud実装しようぜ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・SNS共有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・管理者機能の実装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　最終ログイン１か月経過ユーザーに一斉メール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　いろんな論理削除</a:t>
            </a:r>
            <a:br>
              <a:rPr lang="ja"/>
            </a:br>
            <a:r>
              <a:rPr lang="ja"/>
              <a:t>　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